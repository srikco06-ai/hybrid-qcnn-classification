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9878"/>
            <a:ext cx="136334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138874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1037627"/>
            <a:ext cx="2156460" cy="1275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9203" y="3351784"/>
            <a:ext cx="2540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slide" Target="slide12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slide" Target="slide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slide" Target="slide12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slide" Target="slide1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slide" Target="slide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slide" Target="slide1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slide" Target="slide1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slide" Target="slide1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slide" Target="slide1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slide" Target="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804659"/>
            <a:ext cx="4483735" cy="711200"/>
            <a:chOff x="87743" y="804659"/>
            <a:chExt cx="4483735" cy="711200"/>
          </a:xfrm>
        </p:grpSpPr>
        <p:sp>
          <p:nvSpPr>
            <p:cNvPr id="3" name="object 3"/>
            <p:cNvSpPr/>
            <p:nvPr/>
          </p:nvSpPr>
          <p:spPr>
            <a:xfrm>
              <a:off x="87743" y="804659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8544" y="867907"/>
              <a:ext cx="4432935" cy="647700"/>
            </a:xfrm>
            <a:custGeom>
              <a:avLst/>
              <a:gdLst/>
              <a:ahLst/>
              <a:cxnLst/>
              <a:rect l="l" t="t" r="r" b="b"/>
              <a:pathLst>
                <a:path w="4432935" h="647700">
                  <a:moveTo>
                    <a:pt x="4432566" y="0"/>
                  </a:moveTo>
                  <a:lnTo>
                    <a:pt x="0" y="0"/>
                  </a:lnTo>
                  <a:lnTo>
                    <a:pt x="0" y="647343"/>
                  </a:lnTo>
                  <a:lnTo>
                    <a:pt x="4432566" y="64734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7743" y="849070"/>
              <a:ext cx="4432935" cy="615950"/>
            </a:xfrm>
            <a:custGeom>
              <a:avLst/>
              <a:gdLst/>
              <a:ahLst/>
              <a:cxnLst/>
              <a:rect l="l" t="t" r="r" b="b"/>
              <a:pathLst>
                <a:path w="4432935" h="615950">
                  <a:moveTo>
                    <a:pt x="4432566" y="0"/>
                  </a:moveTo>
                  <a:lnTo>
                    <a:pt x="0" y="0"/>
                  </a:lnTo>
                  <a:lnTo>
                    <a:pt x="0" y="564579"/>
                  </a:lnTo>
                  <a:lnTo>
                    <a:pt x="4008" y="584304"/>
                  </a:lnTo>
                  <a:lnTo>
                    <a:pt x="14922" y="600456"/>
                  </a:lnTo>
                  <a:lnTo>
                    <a:pt x="31075" y="611371"/>
                  </a:lnTo>
                  <a:lnTo>
                    <a:pt x="50800" y="615379"/>
                  </a:lnTo>
                  <a:lnTo>
                    <a:pt x="4381765" y="615379"/>
                  </a:lnTo>
                  <a:lnTo>
                    <a:pt x="4401490" y="611371"/>
                  </a:lnTo>
                  <a:lnTo>
                    <a:pt x="4417643" y="600456"/>
                  </a:lnTo>
                  <a:lnTo>
                    <a:pt x="4428558" y="584304"/>
                  </a:lnTo>
                  <a:lnTo>
                    <a:pt x="4432566" y="56457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38544" y="867907"/>
            <a:ext cx="4432935" cy="6477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445"/>
              </a:spcBef>
            </a:pPr>
            <a:r>
              <a:rPr sz="1400" spc="-20" dirty="0">
                <a:latin typeface="Tahoma" panose="020B0604030504040204"/>
                <a:cs typeface="Tahoma" panose="020B0604030504040204"/>
              </a:rPr>
              <a:t>Quantum</a:t>
            </a:r>
            <a:r>
              <a:rPr sz="1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400" spc="-30" dirty="0">
                <a:latin typeface="Tahoma" panose="020B0604030504040204"/>
                <a:cs typeface="Tahoma" panose="020B0604030504040204"/>
              </a:rPr>
              <a:t>Convolutional</a:t>
            </a:r>
            <a:r>
              <a:rPr sz="1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400" spc="-25" dirty="0">
                <a:latin typeface="Tahoma" panose="020B0604030504040204"/>
                <a:cs typeface="Tahoma" panose="020B0604030504040204"/>
              </a:rPr>
              <a:t>Neural</a:t>
            </a:r>
            <a:r>
              <a:rPr sz="1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400" spc="-10" dirty="0">
                <a:latin typeface="Tahoma" panose="020B0604030504040204"/>
                <a:cs typeface="Tahoma" panose="020B0604030504040204"/>
              </a:rPr>
              <a:t>Network</a:t>
            </a:r>
            <a:endParaRPr sz="1400">
              <a:latin typeface="Tahoma" panose="020B0604030504040204"/>
              <a:cs typeface="Tahoma" panose="020B0604030504040204"/>
            </a:endParaRPr>
          </a:p>
          <a:p>
            <a:pPr marR="92710" algn="ctr">
              <a:lnSpc>
                <a:spcPct val="100000"/>
              </a:lnSpc>
              <a:spcBef>
                <a:spcPts val="325"/>
              </a:spcBef>
            </a:pPr>
            <a:r>
              <a:rPr sz="1100" spc="-65" dirty="0">
                <a:latin typeface="Arial MT"/>
                <a:cs typeface="Arial MT"/>
              </a:rPr>
              <a:t>Classical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Classification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770" y="1674495"/>
            <a:ext cx="4328160" cy="16186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90"/>
              </a:spcBef>
              <a:buNone/>
            </a:pPr>
            <a:r>
              <a:rPr sz="1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charset="0"/>
                <a:cs typeface="Algerian" panose="04020705040A02060702" charset="0"/>
              </a:rPr>
              <a:t>Sri</a:t>
            </a:r>
            <a:r>
              <a:rPr sz="1400" spc="-3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charset="0"/>
                <a:cs typeface="Algerian" panose="04020705040A02060702" charset="0"/>
              </a:rPr>
              <a:t> </a:t>
            </a:r>
            <a:r>
              <a:rPr sz="1400" spc="-35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charset="0"/>
                <a:cs typeface="Algerian" panose="04020705040A02060702" charset="0"/>
              </a:rPr>
              <a:t>Krishna</a:t>
            </a:r>
            <a:r>
              <a:rPr sz="1400" spc="-3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charset="0"/>
                <a:cs typeface="Algerian" panose="04020705040A02060702" charset="0"/>
              </a:rPr>
              <a:t> </a:t>
            </a:r>
            <a:r>
              <a:rPr sz="1400" spc="-45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charset="0"/>
                <a:cs typeface="Algerian" panose="04020705040A02060702" charset="0"/>
              </a:rPr>
              <a:t>Chaitanya</a:t>
            </a:r>
            <a:r>
              <a:rPr sz="1400" spc="-25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charset="0"/>
                <a:cs typeface="Algerian" panose="04020705040A02060702" charset="0"/>
              </a:rPr>
              <a:t> </a:t>
            </a:r>
            <a:r>
              <a:rPr sz="1400" spc="-1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charset="0"/>
                <a:cs typeface="Algerian" panose="04020705040A02060702" charset="0"/>
              </a:rPr>
              <a:t>Ogirala</a:t>
            </a:r>
            <a:endParaRPr sz="1400" spc="-1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gerian" panose="04020705040A02060702" charset="0"/>
              <a:cs typeface="Algerian" panose="04020705040A02060702" charset="0"/>
            </a:endParaRPr>
          </a:p>
          <a:p>
            <a:pPr marL="0" indent="0" algn="r">
              <a:lnSpc>
                <a:spcPct val="100000"/>
              </a:lnSpc>
              <a:spcBef>
                <a:spcPts val="90"/>
              </a:spcBef>
              <a:buNone/>
            </a:pPr>
            <a:r>
              <a:rPr lang="en-IN" sz="1400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charset="0"/>
                <a:cs typeface="Algerian" panose="04020705040A02060702" charset="0"/>
                <a:sym typeface="+mn-ea"/>
              </a:rPr>
              <a:t>Thiyaneswaran</a:t>
            </a:r>
            <a:r>
              <a:rPr lang="en-IN" sz="1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charset="0"/>
                <a:cs typeface="Algerian" panose="04020705040A02060702" charset="0"/>
                <a:sym typeface="+mn-ea"/>
              </a:rPr>
              <a:t> M</a:t>
            </a:r>
            <a:endParaRPr lang="en-IN" sz="14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gerian" panose="04020705040A02060702" charset="0"/>
              <a:cs typeface="Algerian" panose="04020705040A02060702" charset="0"/>
              <a:sym typeface="+mn-ea"/>
            </a:endParaRPr>
          </a:p>
          <a:p>
            <a:pPr marL="0" indent="0" algn="r">
              <a:lnSpc>
                <a:spcPct val="100000"/>
              </a:lnSpc>
              <a:spcBef>
                <a:spcPts val="90"/>
              </a:spcBef>
              <a:buNone/>
            </a:pPr>
            <a:r>
              <a:rPr lang="en-IN" sz="1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charset="0"/>
                <a:cs typeface="Algerian" panose="04020705040A02060702" charset="0"/>
                <a:sym typeface="+mn-ea"/>
              </a:rPr>
              <a:t>Sivakumar Raju </a:t>
            </a:r>
            <a:endParaRPr lang="en-IN" sz="14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gerian" panose="04020705040A02060702" charset="0"/>
              <a:cs typeface="Algerian" panose="04020705040A02060702" charset="0"/>
              <a:sym typeface="+mn-ea"/>
            </a:endParaRPr>
          </a:p>
          <a:p>
            <a:pPr marL="0" indent="0" algn="r">
              <a:lnSpc>
                <a:spcPct val="100000"/>
              </a:lnSpc>
              <a:spcBef>
                <a:spcPts val="90"/>
              </a:spcBef>
              <a:buNone/>
            </a:pPr>
            <a:r>
              <a:rPr lang="en-IN" sz="1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charset="0"/>
                <a:cs typeface="Algerian" panose="04020705040A02060702" charset="0"/>
                <a:sym typeface="+mn-ea"/>
              </a:rPr>
              <a:t>Darshan Mody</a:t>
            </a:r>
            <a:endParaRPr lang="en-IN" sz="14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gerian" panose="04020705040A02060702" charset="0"/>
              <a:cs typeface="Algerian" panose="04020705040A02060702" charset="0"/>
              <a:sym typeface="+mn-ea"/>
            </a:endParaRPr>
          </a:p>
          <a:p>
            <a:pPr marL="0" indent="0" algn="r">
              <a:lnSpc>
                <a:spcPct val="100000"/>
              </a:lnSpc>
              <a:spcBef>
                <a:spcPts val="90"/>
              </a:spcBef>
              <a:buNone/>
            </a:pPr>
            <a:r>
              <a:rPr lang="en-IN" sz="1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charset="0"/>
                <a:cs typeface="Algerian" panose="04020705040A02060702" charset="0"/>
                <a:sym typeface="+mn-ea"/>
              </a:rPr>
              <a:t>Gyaneshwar</a:t>
            </a:r>
            <a:endParaRPr lang="en-IN" sz="14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gerian" panose="04020705040A02060702" charset="0"/>
              <a:cs typeface="Algerian" panose="04020705040A02060702" charset="0"/>
            </a:endParaRPr>
          </a:p>
          <a:p>
            <a:pPr indent="0">
              <a:lnSpc>
                <a:spcPct val="100000"/>
              </a:lnSpc>
              <a:spcBef>
                <a:spcPts val="175"/>
              </a:spcBef>
              <a:buNone/>
            </a:pPr>
            <a:endParaRPr sz="1400">
              <a:latin typeface="Algerian" panose="04020705040A02060702" charset="0"/>
              <a:cs typeface="Algerian" panose="04020705040A02060702" charset="0"/>
            </a:endParaRPr>
          </a:p>
          <a:p>
            <a:pPr algn="ctr">
              <a:lnSpc>
                <a:spcPct val="100000"/>
              </a:lnSpc>
            </a:pPr>
            <a:r>
              <a:rPr sz="1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 MT"/>
                <a:cs typeface="Arial MT"/>
              </a:rPr>
              <a:t>IIT</a:t>
            </a:r>
            <a:r>
              <a:rPr sz="1600" spc="95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 MT"/>
                <a:cs typeface="Arial MT"/>
              </a:rPr>
              <a:t> </a:t>
            </a:r>
            <a:r>
              <a:rPr sz="1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 MT"/>
                <a:cs typeface="Arial MT"/>
              </a:rPr>
              <a:t>Delhi</a:t>
            </a:r>
            <a:r>
              <a:rPr sz="1600" spc="95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 MT"/>
                <a:cs typeface="Arial MT"/>
              </a:rPr>
              <a:t> </a:t>
            </a:r>
            <a:r>
              <a:rPr sz="1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 MT"/>
                <a:cs typeface="Arial MT"/>
              </a:rPr>
              <a:t>–</a:t>
            </a:r>
            <a:r>
              <a:rPr sz="1600" spc="1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 MT"/>
                <a:cs typeface="Arial MT"/>
              </a:rPr>
              <a:t> </a:t>
            </a:r>
            <a:r>
              <a:rPr sz="1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 MT"/>
                <a:cs typeface="Arial MT"/>
              </a:rPr>
              <a:t>QCML</a:t>
            </a:r>
            <a:r>
              <a:rPr sz="1600" spc="95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 MT"/>
                <a:cs typeface="Arial MT"/>
              </a:rPr>
              <a:t> </a:t>
            </a:r>
            <a:r>
              <a:rPr sz="1600" spc="-1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 MT"/>
                <a:cs typeface="Arial MT"/>
              </a:rPr>
              <a:t>Certification</a:t>
            </a:r>
            <a:endParaRPr sz="1600" spc="-1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529910" y="3364484"/>
            <a:ext cx="63563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latin typeface="Arial MT"/>
                <a:cs typeface="Arial MT"/>
              </a:rPr>
              <a:t>CML</a:t>
            </a:r>
            <a:r>
              <a:rPr sz="600" spc="7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  <a:hlinkClick r:id="rId1" action="ppaction://hlinksldjump"/>
              </a:rPr>
              <a:t>Certification)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-12700" y="3351784"/>
            <a:ext cx="300736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</a:rPr>
              <a:t>Sri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Krishna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Chaitanya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Ogirala</a:t>
            </a:r>
            <a:r>
              <a:rPr sz="600" spc="10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(IIT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Delhi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–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Q</a:t>
            </a:r>
            <a:r>
              <a:rPr sz="600" spc="204" dirty="0">
                <a:latin typeface="Arial MT"/>
                <a:cs typeface="Arial MT"/>
              </a:rPr>
              <a:t>  </a:t>
            </a:r>
            <a:r>
              <a:rPr sz="600" dirty="0">
                <a:latin typeface="Arial MT"/>
                <a:cs typeface="Arial MT"/>
                <a:hlinkClick r:id="rId1" action="ppaction://hlinksldjump"/>
              </a:rPr>
              <a:t>Quantum</a:t>
            </a:r>
            <a:r>
              <a:rPr sz="600" spc="40" dirty="0"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1" action="ppaction://hlinksldjump"/>
              </a:rPr>
              <a:t>Convolutional</a:t>
            </a:r>
            <a:r>
              <a:rPr sz="600" spc="45" dirty="0"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1" action="ppaction://hlinksldjump"/>
              </a:rPr>
              <a:t>Neural</a:t>
            </a:r>
            <a:r>
              <a:rPr sz="600" spc="45" dirty="0"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1" action="ppaction://hlinksldjump"/>
              </a:rPr>
              <a:t>Network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Motivation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1245362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118131"/>
            <a:ext cx="2583815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100" spc="-60" dirty="0">
                <a:latin typeface="Arial MT"/>
                <a:cs typeface="Arial MT"/>
              </a:rPr>
              <a:t>CNNs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achieve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high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accuracy</a:t>
            </a:r>
            <a:r>
              <a:rPr sz="1100" dirty="0">
                <a:latin typeface="Arial MT"/>
                <a:cs typeface="Arial MT"/>
              </a:rPr>
              <a:t> in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vision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tasks High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performance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requires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many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parameters </a:t>
            </a:r>
            <a:r>
              <a:rPr sz="1100" spc="-60" dirty="0">
                <a:latin typeface="Arial MT"/>
                <a:cs typeface="Arial MT"/>
              </a:rPr>
              <a:t>Large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models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are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expensive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train </a:t>
            </a:r>
            <a:r>
              <a:rPr sz="1100" spc="-30" dirty="0">
                <a:latin typeface="Arial MT"/>
                <a:cs typeface="Arial MT"/>
              </a:rPr>
              <a:t>Quantum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models</a:t>
            </a:r>
            <a:r>
              <a:rPr sz="1100" spc="-10" dirty="0">
                <a:latin typeface="Arial MT"/>
                <a:cs typeface="Arial MT"/>
              </a:rPr>
              <a:t> offer </a:t>
            </a:r>
            <a:r>
              <a:rPr sz="1100" spc="-65" dirty="0">
                <a:latin typeface="Arial MT"/>
                <a:cs typeface="Arial MT"/>
              </a:rPr>
              <a:t>new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design</a:t>
            </a:r>
            <a:r>
              <a:rPr sz="1100" spc="-10" dirty="0">
                <a:latin typeface="Arial MT"/>
                <a:cs typeface="Arial MT"/>
              </a:rPr>
              <a:t> space </a:t>
            </a:r>
            <a:r>
              <a:rPr sz="1100" spc="-60" dirty="0">
                <a:latin typeface="Arial MT"/>
                <a:cs typeface="Arial MT"/>
              </a:rPr>
              <a:t>QCNNs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aim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parameter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efficiency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5539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6542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75459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85492"/>
            <a:ext cx="65265" cy="6526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529910" y="3364484"/>
            <a:ext cx="63563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latin typeface="Arial MT"/>
                <a:cs typeface="Arial MT"/>
              </a:rPr>
              <a:t>CML</a:t>
            </a:r>
            <a:r>
              <a:rPr sz="600" spc="7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  <a:hlinkClick r:id="rId6" action="ppaction://hlinksldjump"/>
              </a:rPr>
              <a:t>Certification)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-12700" y="3351784"/>
            <a:ext cx="300736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</a:rPr>
              <a:t>Sri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Krishna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Chaitanya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Ogirala</a:t>
            </a:r>
            <a:r>
              <a:rPr sz="600" spc="10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(IIT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Delhi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–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Q</a:t>
            </a:r>
            <a:r>
              <a:rPr sz="600" spc="204" dirty="0">
                <a:latin typeface="Arial MT"/>
                <a:cs typeface="Arial MT"/>
              </a:rPr>
              <a:t>  </a:t>
            </a:r>
            <a:r>
              <a:rPr sz="600" dirty="0">
                <a:latin typeface="Arial MT"/>
                <a:cs typeface="Arial MT"/>
                <a:hlinkClick r:id="rId6" action="ppaction://hlinksldjump"/>
              </a:rPr>
              <a:t>Quantum</a:t>
            </a:r>
            <a:r>
              <a:rPr sz="600" spc="40" dirty="0"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6" action="ppaction://hlinksldjump"/>
              </a:rPr>
              <a:t>Convolutional</a:t>
            </a:r>
            <a:r>
              <a:rPr sz="600" spc="45" dirty="0"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6" action="ppaction://hlinksldjump"/>
              </a:rPr>
              <a:t>Neural</a:t>
            </a:r>
            <a:r>
              <a:rPr sz="600" spc="45" dirty="0"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6" action="ppaction://hlinksldjump"/>
              </a:rPr>
              <a:t>Network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spc="-3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QCNN?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1245362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57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pc="-30" dirty="0"/>
              <a:t>Quantum</a:t>
            </a:r>
            <a:r>
              <a:rPr dirty="0"/>
              <a:t> </a:t>
            </a:r>
            <a:r>
              <a:rPr spc="-60" dirty="0"/>
              <a:t>analogue</a:t>
            </a:r>
            <a:r>
              <a:rPr dirty="0"/>
              <a:t> of </a:t>
            </a:r>
            <a:r>
              <a:rPr spc="-20" dirty="0"/>
              <a:t>CNNs</a:t>
            </a:r>
            <a:endParaRPr spc="-20" dirty="0"/>
          </a:p>
          <a:p>
            <a:pPr marL="12700" marR="5080">
              <a:lnSpc>
                <a:spcPct val="125000"/>
              </a:lnSpc>
            </a:pPr>
            <a:r>
              <a:rPr spc="-110" dirty="0"/>
              <a:t>Uses</a:t>
            </a:r>
            <a:r>
              <a:rPr spc="35" dirty="0"/>
              <a:t> </a:t>
            </a:r>
            <a:r>
              <a:rPr spc="-55" dirty="0"/>
              <a:t>parameterized</a:t>
            </a:r>
            <a:r>
              <a:rPr spc="-20" dirty="0"/>
              <a:t> </a:t>
            </a:r>
            <a:r>
              <a:rPr spc="-25" dirty="0"/>
              <a:t>quantum</a:t>
            </a:r>
            <a:r>
              <a:rPr spc="10" dirty="0"/>
              <a:t> </a:t>
            </a:r>
            <a:r>
              <a:rPr spc="-20" dirty="0"/>
              <a:t>circuits </a:t>
            </a:r>
            <a:r>
              <a:rPr spc="-25" dirty="0"/>
              <a:t>Local</a:t>
            </a:r>
            <a:r>
              <a:rPr spc="-30" dirty="0"/>
              <a:t> </a:t>
            </a:r>
            <a:r>
              <a:rPr spc="-25" dirty="0"/>
              <a:t>two-</a:t>
            </a:r>
            <a:r>
              <a:rPr dirty="0"/>
              <a:t>qubit</a:t>
            </a:r>
            <a:r>
              <a:rPr spc="-25" dirty="0"/>
              <a:t> </a:t>
            </a:r>
            <a:r>
              <a:rPr spc="-10" dirty="0"/>
              <a:t>interactions</a:t>
            </a:r>
            <a:endParaRPr spc="-10" dirty="0"/>
          </a:p>
          <a:p>
            <a:pPr marL="12700" marR="337185">
              <a:lnSpc>
                <a:spcPct val="125000"/>
              </a:lnSpc>
            </a:pPr>
            <a:r>
              <a:rPr spc="-30" dirty="0"/>
              <a:t>Pooling </a:t>
            </a:r>
            <a:r>
              <a:rPr spc="-10" dirty="0"/>
              <a:t>via</a:t>
            </a:r>
            <a:r>
              <a:rPr spc="-25" dirty="0"/>
              <a:t> </a:t>
            </a:r>
            <a:r>
              <a:rPr dirty="0"/>
              <a:t>qubit</a:t>
            </a:r>
            <a:r>
              <a:rPr spc="-25" dirty="0"/>
              <a:t> </a:t>
            </a:r>
            <a:r>
              <a:rPr spc="-65" dirty="0"/>
              <a:t>measurement </a:t>
            </a:r>
            <a:r>
              <a:rPr spc="-70" dirty="0"/>
              <a:t>Designed</a:t>
            </a:r>
            <a:r>
              <a:rPr dirty="0"/>
              <a:t> for</a:t>
            </a:r>
            <a:r>
              <a:rPr spc="5" dirty="0"/>
              <a:t> </a:t>
            </a:r>
            <a:r>
              <a:rPr spc="-30" dirty="0"/>
              <a:t>NISQ</a:t>
            </a:r>
            <a:r>
              <a:rPr spc="5" dirty="0"/>
              <a:t> </a:t>
            </a:r>
            <a:r>
              <a:rPr spc="-10" dirty="0"/>
              <a:t>devices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5539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6542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75459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85492"/>
            <a:ext cx="65265" cy="6526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529910" y="3364484"/>
            <a:ext cx="63563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latin typeface="Arial MT"/>
                <a:cs typeface="Arial MT"/>
              </a:rPr>
              <a:t>CML</a:t>
            </a:r>
            <a:r>
              <a:rPr sz="600" spc="7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  <a:hlinkClick r:id="rId6" action="ppaction://hlinksldjump"/>
              </a:rPr>
              <a:t>Certification)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-12700" y="3351784"/>
            <a:ext cx="300736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</a:rPr>
              <a:t>Sri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Krishna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Chaitanya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Ogirala</a:t>
            </a:r>
            <a:r>
              <a:rPr sz="600" spc="10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(IIT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Delhi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–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Q</a:t>
            </a:r>
            <a:r>
              <a:rPr sz="600" spc="204" dirty="0">
                <a:latin typeface="Arial MT"/>
                <a:cs typeface="Arial MT"/>
              </a:rPr>
              <a:t>  </a:t>
            </a:r>
            <a:r>
              <a:rPr sz="600" dirty="0">
                <a:latin typeface="Arial MT"/>
                <a:cs typeface="Arial MT"/>
                <a:hlinkClick r:id="rId6" action="ppaction://hlinksldjump"/>
              </a:rPr>
              <a:t>Quantum</a:t>
            </a:r>
            <a:r>
              <a:rPr sz="600" spc="40" dirty="0"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6" action="ppaction://hlinksldjump"/>
              </a:rPr>
              <a:t>Convolutional</a:t>
            </a:r>
            <a:r>
              <a:rPr sz="600" spc="45" dirty="0"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6" action="ppaction://hlinksldjump"/>
              </a:rPr>
              <a:t>Neural</a:t>
            </a:r>
            <a:r>
              <a:rPr sz="600" spc="45" dirty="0"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6" action="ppaction://hlinksldjump"/>
              </a:rPr>
              <a:t>Network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14909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Tahoma" panose="020B0604030504040204"/>
                <a:cs typeface="Tahoma" panose="020B0604030504040204"/>
              </a:rPr>
              <a:t>QCNN</a:t>
            </a:r>
            <a:r>
              <a:rPr sz="1400" spc="215" dirty="0">
                <a:latin typeface="Tahoma" panose="020B0604030504040204"/>
                <a:cs typeface="Tahoma" panose="020B0604030504040204"/>
              </a:rPr>
              <a:t> </a:t>
            </a:r>
            <a:r>
              <a:rPr sz="1400" spc="-20" dirty="0">
                <a:latin typeface="Tahoma" panose="020B0604030504040204"/>
                <a:cs typeface="Tahoma" panose="020B0604030504040204"/>
              </a:rPr>
              <a:t>Architecture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8540" y="976682"/>
          <a:ext cx="3072765" cy="359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090"/>
                <a:gridCol w="350520"/>
                <a:gridCol w="739139"/>
                <a:gridCol w="244475"/>
                <a:gridCol w="931544"/>
              </a:tblGrid>
              <a:tr h="179705">
                <a:tc rowSpan="2">
                  <a:txBody>
                    <a:bodyPr/>
                    <a:lstStyle/>
                    <a:p>
                      <a:pPr marL="20828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Embedding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100" spc="-30" dirty="0">
                          <a:latin typeface="Arial MT"/>
                          <a:cs typeface="Arial MT"/>
                        </a:rPr>
                        <a:t>Q-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Convolution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 vMerge="1">
                  <a:tcPr marL="0" marR="0" marT="74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cPr marL="0" marR="0" marT="74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578558" y="2056695"/>
          <a:ext cx="3041015" cy="359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090"/>
                <a:gridCol w="274320"/>
                <a:gridCol w="892175"/>
                <a:gridCol w="200025"/>
                <a:gridCol w="868680"/>
              </a:tblGrid>
              <a:tr h="179705">
                <a:tc rowSpan="2"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Pooling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Entanglement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100" spc="-35" dirty="0">
                          <a:latin typeface="Arial MT"/>
                          <a:cs typeface="Arial MT"/>
                        </a:rPr>
                        <a:t>Measurement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 vMerge="1">
                  <a:tcPr marL="0" marR="0" marT="74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cPr marL="0" marR="0" marT="74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180189" y="1135428"/>
            <a:ext cx="24765" cy="52705"/>
          </a:xfrm>
          <a:custGeom>
            <a:avLst/>
            <a:gdLst/>
            <a:ahLst/>
            <a:cxnLst/>
            <a:rect l="l" t="t" r="r" b="b"/>
            <a:pathLst>
              <a:path w="24765" h="52705">
                <a:moveTo>
                  <a:pt x="0" y="0"/>
                </a:moveTo>
                <a:lnTo>
                  <a:pt x="3855" y="8044"/>
                </a:lnTo>
                <a:lnTo>
                  <a:pt x="11102" y="16242"/>
                </a:lnTo>
                <a:lnTo>
                  <a:pt x="18966" y="22898"/>
                </a:lnTo>
                <a:lnTo>
                  <a:pt x="24671" y="26316"/>
                </a:lnTo>
                <a:lnTo>
                  <a:pt x="18966" y="29734"/>
                </a:lnTo>
                <a:lnTo>
                  <a:pt x="11102" y="36391"/>
                </a:lnTo>
                <a:lnTo>
                  <a:pt x="3855" y="44589"/>
                </a:lnTo>
                <a:lnTo>
                  <a:pt x="0" y="52633"/>
                </a:lnTo>
              </a:path>
            </a:pathLst>
          </a:custGeom>
          <a:ln w="80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63990" y="1135428"/>
            <a:ext cx="24765" cy="52705"/>
          </a:xfrm>
          <a:custGeom>
            <a:avLst/>
            <a:gdLst/>
            <a:ahLst/>
            <a:cxnLst/>
            <a:rect l="l" t="t" r="r" b="b"/>
            <a:pathLst>
              <a:path w="24764" h="52705">
                <a:moveTo>
                  <a:pt x="0" y="0"/>
                </a:moveTo>
                <a:lnTo>
                  <a:pt x="3855" y="8044"/>
                </a:lnTo>
                <a:lnTo>
                  <a:pt x="11102" y="16242"/>
                </a:lnTo>
                <a:lnTo>
                  <a:pt x="18966" y="22898"/>
                </a:lnTo>
                <a:lnTo>
                  <a:pt x="24671" y="26316"/>
                </a:lnTo>
                <a:lnTo>
                  <a:pt x="18966" y="29734"/>
                </a:lnTo>
                <a:lnTo>
                  <a:pt x="11102" y="36391"/>
                </a:lnTo>
                <a:lnTo>
                  <a:pt x="3855" y="44589"/>
                </a:lnTo>
                <a:lnTo>
                  <a:pt x="0" y="52633"/>
                </a:lnTo>
              </a:path>
            </a:pathLst>
          </a:custGeom>
          <a:ln w="80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2056866" y="1341747"/>
            <a:ext cx="488950" cy="715645"/>
            <a:chOff x="2056866" y="1341747"/>
            <a:chExt cx="488950" cy="715645"/>
          </a:xfrm>
        </p:grpSpPr>
        <p:sp>
          <p:nvSpPr>
            <p:cNvPr id="9" name="object 9"/>
            <p:cNvSpPr/>
            <p:nvPr/>
          </p:nvSpPr>
          <p:spPr>
            <a:xfrm>
              <a:off x="2071857" y="1346808"/>
              <a:ext cx="468630" cy="702945"/>
            </a:xfrm>
            <a:custGeom>
              <a:avLst/>
              <a:gdLst/>
              <a:ahLst/>
              <a:cxnLst/>
              <a:rect l="l" t="t" r="r" b="b"/>
              <a:pathLst>
                <a:path w="468630" h="702944">
                  <a:moveTo>
                    <a:pt x="468447" y="0"/>
                  </a:moveTo>
                  <a:lnTo>
                    <a:pt x="0" y="702413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060914" y="2018200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4" h="35560">
                  <a:moveTo>
                    <a:pt x="43787" y="29202"/>
                  </a:moveTo>
                  <a:lnTo>
                    <a:pt x="34956" y="27946"/>
                  </a:lnTo>
                  <a:lnTo>
                    <a:pt x="24114" y="29426"/>
                  </a:lnTo>
                  <a:lnTo>
                    <a:pt x="14214" y="32276"/>
                  </a:lnTo>
                  <a:lnTo>
                    <a:pt x="8205" y="35126"/>
                  </a:lnTo>
                  <a:lnTo>
                    <a:pt x="8527" y="28483"/>
                  </a:lnTo>
                  <a:lnTo>
                    <a:pt x="7352" y="18248"/>
                  </a:lnTo>
                  <a:lnTo>
                    <a:pt x="4553" y="7670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2543815" y="2215442"/>
            <a:ext cx="24765" cy="52705"/>
          </a:xfrm>
          <a:custGeom>
            <a:avLst/>
            <a:gdLst/>
            <a:ahLst/>
            <a:cxnLst/>
            <a:rect l="l" t="t" r="r" b="b"/>
            <a:pathLst>
              <a:path w="24764" h="52705">
                <a:moveTo>
                  <a:pt x="0" y="0"/>
                </a:moveTo>
                <a:lnTo>
                  <a:pt x="3855" y="8044"/>
                </a:lnTo>
                <a:lnTo>
                  <a:pt x="11102" y="16242"/>
                </a:lnTo>
                <a:lnTo>
                  <a:pt x="18966" y="22898"/>
                </a:lnTo>
                <a:lnTo>
                  <a:pt x="24671" y="26316"/>
                </a:lnTo>
                <a:lnTo>
                  <a:pt x="18966" y="29734"/>
                </a:lnTo>
                <a:lnTo>
                  <a:pt x="11102" y="36391"/>
                </a:lnTo>
                <a:lnTo>
                  <a:pt x="3855" y="44589"/>
                </a:lnTo>
                <a:lnTo>
                  <a:pt x="0" y="52633"/>
                </a:lnTo>
              </a:path>
            </a:pathLst>
          </a:custGeom>
          <a:ln w="80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35566" y="2215442"/>
            <a:ext cx="24765" cy="52705"/>
          </a:xfrm>
          <a:custGeom>
            <a:avLst/>
            <a:gdLst/>
            <a:ahLst/>
            <a:cxnLst/>
            <a:rect l="l" t="t" r="r" b="b"/>
            <a:pathLst>
              <a:path w="24764" h="52705">
                <a:moveTo>
                  <a:pt x="0" y="0"/>
                </a:moveTo>
                <a:lnTo>
                  <a:pt x="3855" y="8044"/>
                </a:lnTo>
                <a:lnTo>
                  <a:pt x="11102" y="16242"/>
                </a:lnTo>
                <a:lnTo>
                  <a:pt x="18966" y="22898"/>
                </a:lnTo>
                <a:lnTo>
                  <a:pt x="24671" y="26316"/>
                </a:lnTo>
                <a:lnTo>
                  <a:pt x="18966" y="29734"/>
                </a:lnTo>
                <a:lnTo>
                  <a:pt x="11102" y="36391"/>
                </a:lnTo>
                <a:lnTo>
                  <a:pt x="3855" y="44589"/>
                </a:lnTo>
                <a:lnTo>
                  <a:pt x="0" y="52633"/>
                </a:lnTo>
              </a:path>
            </a:pathLst>
          </a:custGeom>
          <a:ln w="80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529910" y="3364484"/>
            <a:ext cx="63563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latin typeface="Arial MT"/>
                <a:cs typeface="Arial MT"/>
              </a:rPr>
              <a:t>CML</a:t>
            </a:r>
            <a:r>
              <a:rPr sz="600" spc="7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  <a:hlinkClick r:id="rId1" action="ppaction://hlinksldjump"/>
              </a:rPr>
              <a:t>Certification)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-12700" y="3351784"/>
            <a:ext cx="300736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</a:rPr>
              <a:t>Sri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Krishna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Chaitanya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Ogirala</a:t>
            </a:r>
            <a:r>
              <a:rPr sz="600" spc="10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(IIT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Delhi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–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Q</a:t>
            </a:r>
            <a:r>
              <a:rPr sz="600" spc="204" dirty="0">
                <a:latin typeface="Arial MT"/>
                <a:cs typeface="Arial MT"/>
              </a:rPr>
              <a:t>  </a:t>
            </a:r>
            <a:r>
              <a:rPr sz="600" dirty="0">
                <a:latin typeface="Arial MT"/>
                <a:cs typeface="Arial MT"/>
                <a:hlinkClick r:id="rId1" action="ppaction://hlinksldjump"/>
              </a:rPr>
              <a:t>Quantum</a:t>
            </a:r>
            <a:r>
              <a:rPr sz="600" spc="40" dirty="0"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1" action="ppaction://hlinksldjump"/>
              </a:rPr>
              <a:t>Convolutional</a:t>
            </a:r>
            <a:r>
              <a:rPr sz="600" spc="45" dirty="0"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1" action="ppaction://hlinksldjump"/>
              </a:rPr>
              <a:t>Neural</a:t>
            </a:r>
            <a:r>
              <a:rPr sz="600" spc="45" dirty="0"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1" action="ppaction://hlinksldjump"/>
              </a:rPr>
              <a:t>Network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Datasets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1146162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865" y="1335976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487805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6491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854733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2006562"/>
            <a:ext cx="52590" cy="5259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pc="-10" dirty="0"/>
              <a:t>MNIST</a:t>
            </a:r>
            <a:endParaRPr spc="-10" dirty="0"/>
          </a:p>
          <a:p>
            <a:pPr marL="289560" marR="626745">
              <a:lnSpc>
                <a:spcPct val="100000"/>
              </a:lnSpc>
              <a:spcBef>
                <a:spcPts val="175"/>
              </a:spcBef>
            </a:pPr>
            <a:r>
              <a:rPr sz="1000" spc="-10" dirty="0"/>
              <a:t>Handwritten</a:t>
            </a:r>
            <a:r>
              <a:rPr sz="1000" spc="-55" dirty="0"/>
              <a:t> </a:t>
            </a:r>
            <a:r>
              <a:rPr sz="1000" spc="-20" dirty="0"/>
              <a:t>digits </a:t>
            </a:r>
            <a:r>
              <a:rPr sz="1000" spc="-45" dirty="0"/>
              <a:t>28</a:t>
            </a:r>
            <a:r>
              <a:rPr sz="1000" i="1" spc="-45" dirty="0">
                <a:latin typeface="Verdana" panose="020B0604030504040204"/>
                <a:cs typeface="Verdana" panose="020B0604030504040204"/>
              </a:rPr>
              <a:t>×</a:t>
            </a:r>
            <a:r>
              <a:rPr sz="1000" spc="-45" dirty="0"/>
              <a:t>28</a:t>
            </a:r>
            <a:r>
              <a:rPr sz="1000" spc="10" dirty="0"/>
              <a:t> </a:t>
            </a:r>
            <a:r>
              <a:rPr sz="1000" spc="-10" dirty="0"/>
              <a:t>grayscale</a:t>
            </a:r>
            <a:endParaRPr sz="100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50" dirty="0"/>
              <a:t>Fashion-</a:t>
            </a:r>
            <a:r>
              <a:rPr spc="-10" dirty="0"/>
              <a:t>MNIST</a:t>
            </a:r>
            <a:endParaRPr spc="-10" dirty="0"/>
          </a:p>
          <a:p>
            <a:pPr marL="289560" marR="655320">
              <a:lnSpc>
                <a:spcPct val="100000"/>
              </a:lnSpc>
              <a:spcBef>
                <a:spcPts val="175"/>
              </a:spcBef>
            </a:pPr>
            <a:r>
              <a:rPr sz="1000" spc="-10" dirty="0"/>
              <a:t>Clothing</a:t>
            </a:r>
            <a:r>
              <a:rPr sz="1000" spc="-55" dirty="0"/>
              <a:t> </a:t>
            </a:r>
            <a:r>
              <a:rPr sz="1000" spc="-10" dirty="0"/>
              <a:t>images </a:t>
            </a:r>
            <a:r>
              <a:rPr sz="1000" spc="-25" dirty="0"/>
              <a:t>Higher</a:t>
            </a:r>
            <a:r>
              <a:rPr sz="1000" spc="-10" dirty="0"/>
              <a:t> </a:t>
            </a:r>
            <a:r>
              <a:rPr sz="1000" spc="-40" dirty="0"/>
              <a:t>complexity</a:t>
            </a:r>
            <a:endParaRPr sz="1000"/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pc="-35" dirty="0"/>
              <a:t>QCNN </a:t>
            </a:r>
            <a:r>
              <a:rPr spc="-25" dirty="0"/>
              <a:t>trained</a:t>
            </a:r>
            <a:r>
              <a:rPr spc="-30" dirty="0"/>
              <a:t> </a:t>
            </a:r>
            <a:r>
              <a:rPr dirty="0"/>
              <a:t>on</a:t>
            </a:r>
            <a:r>
              <a:rPr spc="-30" dirty="0"/>
              <a:t> </a:t>
            </a:r>
            <a:r>
              <a:rPr spc="-40" dirty="0"/>
              <a:t>5,000</a:t>
            </a:r>
            <a:r>
              <a:rPr spc="-35" dirty="0"/>
              <a:t> </a:t>
            </a:r>
            <a:r>
              <a:rPr spc="-65" dirty="0"/>
              <a:t>samples</a:t>
            </a:r>
            <a:endParaRPr spc="-65" dirty="0"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203919"/>
            <a:ext cx="65265" cy="6526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529910" y="3364484"/>
            <a:ext cx="63563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latin typeface="Arial MT"/>
                <a:cs typeface="Arial MT"/>
              </a:rPr>
              <a:t>CML</a:t>
            </a:r>
            <a:r>
              <a:rPr sz="600" spc="7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  <a:hlinkClick r:id="rId8" action="ppaction://hlinksldjump"/>
              </a:rPr>
              <a:t>Certification)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-12700" y="3351784"/>
            <a:ext cx="300736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</a:rPr>
              <a:t>Sri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Krishna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Chaitanya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Ogirala</a:t>
            </a:r>
            <a:r>
              <a:rPr sz="600" spc="10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(IIT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Delhi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–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Q</a:t>
            </a:r>
            <a:r>
              <a:rPr sz="600" spc="204" dirty="0">
                <a:latin typeface="Arial MT"/>
                <a:cs typeface="Arial MT"/>
              </a:rPr>
              <a:t>  </a:t>
            </a:r>
            <a:r>
              <a:rPr sz="600" dirty="0">
                <a:latin typeface="Arial MT"/>
                <a:cs typeface="Arial MT"/>
                <a:hlinkClick r:id="rId8" action="ppaction://hlinksldjump"/>
              </a:rPr>
              <a:t>Quantum</a:t>
            </a:r>
            <a:r>
              <a:rPr sz="600" spc="40" dirty="0"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8" action="ppaction://hlinksldjump"/>
              </a:rPr>
              <a:t>Convolutional</a:t>
            </a:r>
            <a:r>
              <a:rPr sz="600" spc="45" dirty="0"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8" action="ppaction://hlinksldjump"/>
              </a:rPr>
              <a:t>Neural</a:t>
            </a:r>
            <a:r>
              <a:rPr sz="600" spc="45" dirty="0"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8" action="ppaction://hlinksldjump"/>
              </a:rPr>
              <a:t>Network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Models</a:t>
            </a:r>
            <a:r>
              <a:rPr spc="-75" dirty="0"/>
              <a:t> </a:t>
            </a:r>
            <a:r>
              <a:rPr spc="-50" dirty="0"/>
              <a:t>Compared</a:t>
            </a:r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1410309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83078"/>
            <a:ext cx="2896235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5960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Artificial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Neural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Network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(ANN) </a:t>
            </a:r>
            <a:r>
              <a:rPr sz="1100" spc="-35" dirty="0">
                <a:latin typeface="Arial MT"/>
                <a:cs typeface="Arial MT"/>
              </a:rPr>
              <a:t>Convolutional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Neural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Network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(CNN)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30" dirty="0">
                <a:latin typeface="Arial MT"/>
                <a:cs typeface="Arial MT"/>
              </a:rPr>
              <a:t>Quantum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Convolutional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Neural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Network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(QCNN)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62034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30374"/>
            <a:ext cx="65265" cy="6526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529910" y="3364484"/>
            <a:ext cx="63563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latin typeface="Arial MT"/>
                <a:cs typeface="Arial MT"/>
              </a:rPr>
              <a:t>CML</a:t>
            </a:r>
            <a:r>
              <a:rPr sz="600" spc="7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  <a:hlinkClick r:id="rId4" action="ppaction://hlinksldjump"/>
              </a:rPr>
              <a:t>Certification)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-12700" y="3351784"/>
            <a:ext cx="300736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</a:rPr>
              <a:t>Sri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Krishna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Chaitanya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Ogirala</a:t>
            </a:r>
            <a:r>
              <a:rPr sz="600" spc="10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(IIT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Delhi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–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Q</a:t>
            </a:r>
            <a:r>
              <a:rPr sz="600" spc="204" dirty="0">
                <a:latin typeface="Arial MT"/>
                <a:cs typeface="Arial MT"/>
              </a:rPr>
              <a:t>  </a:t>
            </a:r>
            <a:r>
              <a:rPr sz="600" dirty="0">
                <a:latin typeface="Arial MT"/>
                <a:cs typeface="Arial MT"/>
                <a:hlinkClick r:id="rId4" action="ppaction://hlinksldjump"/>
              </a:rPr>
              <a:t>Quantum</a:t>
            </a:r>
            <a:r>
              <a:rPr sz="600" spc="40" dirty="0"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4" action="ppaction://hlinksldjump"/>
              </a:rPr>
              <a:t>Convolutional</a:t>
            </a:r>
            <a:r>
              <a:rPr sz="600" spc="45" dirty="0"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4" action="ppaction://hlinksldjump"/>
              </a:rPr>
              <a:t>Neural</a:t>
            </a:r>
            <a:r>
              <a:rPr sz="600" spc="45" dirty="0"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4" action="ppaction://hlinksldjump"/>
              </a:rPr>
              <a:t>Network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13017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latin typeface="Tahoma" panose="020B0604030504040204"/>
                <a:cs typeface="Tahoma" panose="020B0604030504040204"/>
              </a:rPr>
              <a:t>Results</a:t>
            </a:r>
            <a:r>
              <a:rPr sz="140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400" spc="-10" dirty="0">
                <a:latin typeface="Tahoma" panose="020B0604030504040204"/>
                <a:cs typeface="Tahoma" panose="020B0604030504040204"/>
              </a:rPr>
              <a:t>(MNIST)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97127" y="1223594"/>
          <a:ext cx="2090420" cy="833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/>
                <a:gridCol w="678180"/>
                <a:gridCol w="796925"/>
              </a:tblGrid>
              <a:tr h="24511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Model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Accuracy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Parameters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4629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ANN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98.00%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235k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CNN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98.81%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421k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02565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QCNN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82.35%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9.5k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529910" y="3364484"/>
            <a:ext cx="63563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latin typeface="Arial MT"/>
                <a:cs typeface="Arial MT"/>
              </a:rPr>
              <a:t>CML</a:t>
            </a:r>
            <a:r>
              <a:rPr sz="600" spc="7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  <a:hlinkClick r:id="rId1" action="ppaction://hlinksldjump"/>
              </a:rPr>
              <a:t>Certification)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-12700" y="3351784"/>
            <a:ext cx="300736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</a:rPr>
              <a:t>Sri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Krishna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Chaitanya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Ogirala</a:t>
            </a:r>
            <a:r>
              <a:rPr sz="600" spc="10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(IIT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Delhi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–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Q</a:t>
            </a:r>
            <a:r>
              <a:rPr sz="600" spc="204" dirty="0">
                <a:latin typeface="Arial MT"/>
                <a:cs typeface="Arial MT"/>
              </a:rPr>
              <a:t>  </a:t>
            </a:r>
            <a:r>
              <a:rPr sz="600" dirty="0">
                <a:latin typeface="Arial MT"/>
                <a:cs typeface="Arial MT"/>
                <a:hlinkClick r:id="rId1" action="ppaction://hlinksldjump"/>
              </a:rPr>
              <a:t>Quantum</a:t>
            </a:r>
            <a:r>
              <a:rPr sz="600" spc="40" dirty="0"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1" action="ppaction://hlinksldjump"/>
              </a:rPr>
              <a:t>Convolutional</a:t>
            </a:r>
            <a:r>
              <a:rPr sz="600" spc="45" dirty="0"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1" action="ppaction://hlinksldjump"/>
              </a:rPr>
              <a:t>Neural</a:t>
            </a:r>
            <a:r>
              <a:rPr sz="600" spc="45" dirty="0"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1" action="ppaction://hlinksldjump"/>
              </a:rPr>
              <a:t>Network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19259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latin typeface="Tahoma" panose="020B0604030504040204"/>
                <a:cs typeface="Tahoma" panose="020B0604030504040204"/>
              </a:rPr>
              <a:t>Results</a:t>
            </a:r>
            <a:r>
              <a:rPr sz="1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400" spc="-10" dirty="0">
                <a:latin typeface="Tahoma" panose="020B0604030504040204"/>
                <a:cs typeface="Tahoma" panose="020B0604030504040204"/>
              </a:rPr>
              <a:t>(Fashion-MNIST)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97127" y="1223594"/>
          <a:ext cx="2090420" cy="833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/>
                <a:gridCol w="678180"/>
                <a:gridCol w="796925"/>
              </a:tblGrid>
              <a:tr h="24511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Model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Accuracy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Parameters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4629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ANN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88.74%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235k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CNN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92.06%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421k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02565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QCNN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59.35%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9.5k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529910" y="3364484"/>
            <a:ext cx="63563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latin typeface="Arial MT"/>
                <a:cs typeface="Arial MT"/>
              </a:rPr>
              <a:t>CML</a:t>
            </a:r>
            <a:r>
              <a:rPr sz="600" spc="7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  <a:hlinkClick r:id="rId1" action="ppaction://hlinksldjump"/>
              </a:rPr>
              <a:t>Certification)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-12700" y="3351784"/>
            <a:ext cx="300736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</a:rPr>
              <a:t>Sri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Krishna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Chaitanya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Ogirala</a:t>
            </a:r>
            <a:r>
              <a:rPr sz="600" spc="10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(IIT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Delhi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–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Q</a:t>
            </a:r>
            <a:r>
              <a:rPr sz="600" spc="204" dirty="0">
                <a:latin typeface="Arial MT"/>
                <a:cs typeface="Arial MT"/>
              </a:rPr>
              <a:t>  </a:t>
            </a:r>
            <a:r>
              <a:rPr sz="600" dirty="0">
                <a:latin typeface="Arial MT"/>
                <a:cs typeface="Arial MT"/>
                <a:hlinkClick r:id="rId1" action="ppaction://hlinksldjump"/>
              </a:rPr>
              <a:t>Quantum</a:t>
            </a:r>
            <a:r>
              <a:rPr sz="600" spc="40" dirty="0"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1" action="ppaction://hlinksldjump"/>
              </a:rPr>
              <a:t>Convolutional</a:t>
            </a:r>
            <a:r>
              <a:rPr sz="600" spc="45" dirty="0"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1" action="ppaction://hlinksldjump"/>
              </a:rPr>
              <a:t>Neural</a:t>
            </a:r>
            <a:r>
              <a:rPr sz="600" spc="45" dirty="0"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1" action="ppaction://hlinksldjump"/>
              </a:rPr>
              <a:t>Network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Key</a:t>
            </a:r>
            <a:r>
              <a:rPr spc="-20" dirty="0"/>
              <a:t> </a:t>
            </a:r>
            <a:r>
              <a:rPr spc="-45" dirty="0"/>
              <a:t>Observations</a:t>
            </a:r>
            <a:endParaRPr spc="-4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1329372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02141"/>
            <a:ext cx="2109470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885">
              <a:lnSpc>
                <a:spcPct val="125000"/>
              </a:lnSpc>
              <a:spcBef>
                <a:spcPts val="100"/>
              </a:spcBef>
            </a:pPr>
            <a:r>
              <a:rPr sz="1100" spc="-20" dirty="0">
                <a:latin typeface="Arial MT"/>
                <a:cs typeface="Arial MT"/>
              </a:rPr>
              <a:t>CNN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gives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highest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accuracy </a:t>
            </a:r>
            <a:r>
              <a:rPr sz="1100" spc="-35" dirty="0">
                <a:latin typeface="Arial MT"/>
                <a:cs typeface="Arial MT"/>
              </a:rPr>
              <a:t>QCNN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14" dirty="0">
                <a:latin typeface="Arial MT"/>
                <a:cs typeface="Arial MT"/>
              </a:rPr>
              <a:t>uses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44</a:t>
            </a:r>
            <a:r>
              <a:rPr sz="1100" i="1" spc="-60" dirty="0">
                <a:latin typeface="Verdana" panose="020B0604030504040204"/>
                <a:cs typeface="Verdana" panose="020B0604030504040204"/>
              </a:rPr>
              <a:t>×</a:t>
            </a:r>
            <a:r>
              <a:rPr sz="1100" i="1" spc="-40" dirty="0">
                <a:latin typeface="Verdana" panose="020B0604030504040204"/>
                <a:cs typeface="Verdana" panose="020B0604030504040204"/>
              </a:rPr>
              <a:t> </a:t>
            </a:r>
            <a:r>
              <a:rPr sz="1100" spc="-55" dirty="0">
                <a:latin typeface="Arial MT"/>
                <a:cs typeface="Arial MT"/>
              </a:rPr>
              <a:t>fewer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parameters </a:t>
            </a:r>
            <a:r>
              <a:rPr sz="1100" spc="-35" dirty="0">
                <a:latin typeface="Arial MT"/>
                <a:cs typeface="Arial MT"/>
              </a:rPr>
              <a:t>QCNN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performs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well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MNIST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60" dirty="0">
                <a:latin typeface="Arial MT"/>
                <a:cs typeface="Arial MT"/>
              </a:rPr>
              <a:t>Performance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drops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complex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data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53940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4943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59470"/>
            <a:ext cx="65265" cy="6526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529910" y="3364484"/>
            <a:ext cx="63563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latin typeface="Arial MT"/>
                <a:cs typeface="Arial MT"/>
              </a:rPr>
              <a:t>CML</a:t>
            </a:r>
            <a:r>
              <a:rPr sz="600" spc="7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  <a:hlinkClick r:id="rId5" action="ppaction://hlinksldjump"/>
              </a:rPr>
              <a:t>Certification)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-12700" y="3351784"/>
            <a:ext cx="300736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</a:rPr>
              <a:t>Sri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Krishna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Chaitanya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Ogirala</a:t>
            </a:r>
            <a:r>
              <a:rPr sz="600" spc="10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(IIT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Delhi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–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Q</a:t>
            </a:r>
            <a:r>
              <a:rPr sz="600" spc="204" dirty="0">
                <a:latin typeface="Arial MT"/>
                <a:cs typeface="Arial MT"/>
              </a:rPr>
              <a:t>  </a:t>
            </a:r>
            <a:r>
              <a:rPr sz="600" dirty="0">
                <a:latin typeface="Arial MT"/>
                <a:cs typeface="Arial MT"/>
                <a:hlinkClick r:id="rId5" action="ppaction://hlinksldjump"/>
              </a:rPr>
              <a:t>Quantum</a:t>
            </a:r>
            <a:r>
              <a:rPr sz="600" spc="40" dirty="0"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5" action="ppaction://hlinksldjump"/>
              </a:rPr>
              <a:t>Convolutional</a:t>
            </a:r>
            <a:r>
              <a:rPr sz="600" spc="45" dirty="0"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5" action="ppaction://hlinksldjump"/>
              </a:rPr>
              <a:t>Neural</a:t>
            </a:r>
            <a:r>
              <a:rPr sz="600" spc="45" dirty="0"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5" action="ppaction://hlinksldjump"/>
              </a:rPr>
              <a:t>Network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Limitations</a:t>
            </a: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1329372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3225" y="1202055"/>
            <a:ext cx="3898900" cy="188150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0">
              <a:lnSpc>
                <a:spcPct val="125000"/>
              </a:lnSpc>
              <a:spcBef>
                <a:spcPts val="100"/>
              </a:spcBef>
              <a:buNone/>
            </a:pPr>
            <a:r>
              <a:rPr sz="1100" dirty="0">
                <a:latin typeface="Arial MT"/>
                <a:cs typeface="Arial MT"/>
              </a:rPr>
              <a:t>No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quantum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advantage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claimed </a:t>
            </a:r>
            <a:endParaRPr sz="1100" spc="-45" dirty="0">
              <a:latin typeface="Arial MT"/>
              <a:cs typeface="Arial MT"/>
            </a:endParaRPr>
          </a:p>
          <a:p>
            <a:pPr marL="12700" marR="5080" indent="0">
              <a:lnSpc>
                <a:spcPct val="125000"/>
              </a:lnSpc>
              <a:spcBef>
                <a:spcPts val="100"/>
              </a:spcBef>
              <a:buNone/>
            </a:pPr>
            <a:r>
              <a:rPr sz="1100" spc="-50" dirty="0">
                <a:latin typeface="Arial MT"/>
                <a:cs typeface="Arial MT"/>
              </a:rPr>
              <a:t>Shallow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circuits</a:t>
            </a:r>
            <a:endParaRPr sz="1100">
              <a:latin typeface="Arial MT"/>
              <a:cs typeface="Arial MT"/>
            </a:endParaRPr>
          </a:p>
          <a:p>
            <a:pPr marL="12700" marR="417830" indent="0">
              <a:lnSpc>
                <a:spcPct val="125000"/>
              </a:lnSpc>
              <a:buNone/>
            </a:pPr>
            <a:r>
              <a:rPr sz="1100" spc="-65" dirty="0">
                <a:latin typeface="Arial MT"/>
                <a:cs typeface="Arial MT"/>
              </a:rPr>
              <a:t>Classical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simulation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used </a:t>
            </a:r>
            <a:endParaRPr sz="1100" spc="-80" dirty="0">
              <a:latin typeface="Arial MT"/>
              <a:cs typeface="Arial MT"/>
            </a:endParaRPr>
          </a:p>
          <a:p>
            <a:pPr marL="12700" marR="417830" indent="0">
              <a:lnSpc>
                <a:spcPct val="125000"/>
              </a:lnSpc>
              <a:buNone/>
            </a:pPr>
            <a:r>
              <a:rPr sz="1100" spc="-45" dirty="0">
                <a:latin typeface="Arial MT"/>
                <a:cs typeface="Arial MT"/>
              </a:rPr>
              <a:t>Scaling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remains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difficult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53940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4943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59470"/>
            <a:ext cx="65265" cy="6526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529910" y="3364484"/>
            <a:ext cx="63563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latin typeface="Arial MT"/>
                <a:cs typeface="Arial MT"/>
              </a:rPr>
              <a:t>CML</a:t>
            </a:r>
            <a:r>
              <a:rPr sz="600" spc="7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  <a:hlinkClick r:id="rId5" action="ppaction://hlinksldjump"/>
              </a:rPr>
              <a:t>Certification)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-12700" y="3351784"/>
            <a:ext cx="300736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</a:rPr>
              <a:t>Sri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Krishna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Chaitanya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Ogirala</a:t>
            </a:r>
            <a:r>
              <a:rPr sz="600" spc="10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(IIT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Delhi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–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Q</a:t>
            </a:r>
            <a:r>
              <a:rPr sz="600" spc="204" dirty="0">
                <a:latin typeface="Arial MT"/>
                <a:cs typeface="Arial MT"/>
              </a:rPr>
              <a:t>  </a:t>
            </a:r>
            <a:r>
              <a:rPr sz="600" dirty="0">
                <a:latin typeface="Arial MT"/>
                <a:cs typeface="Arial MT"/>
                <a:hlinkClick r:id="rId5" action="ppaction://hlinksldjump"/>
              </a:rPr>
              <a:t>Quantum</a:t>
            </a:r>
            <a:r>
              <a:rPr sz="600" spc="40" dirty="0"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5" action="ppaction://hlinksldjump"/>
              </a:rPr>
              <a:t>Convolutional</a:t>
            </a:r>
            <a:r>
              <a:rPr sz="600" spc="45" dirty="0"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5" action="ppaction://hlinksldjump"/>
              </a:rPr>
              <a:t>Neural</a:t>
            </a:r>
            <a:r>
              <a:rPr sz="600" spc="45" dirty="0"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5" action="ppaction://hlinksldjump"/>
              </a:rPr>
              <a:t>Network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Conclusion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1329372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02141"/>
            <a:ext cx="2261235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60375">
              <a:lnSpc>
                <a:spcPct val="125000"/>
              </a:lnSpc>
              <a:spcBef>
                <a:spcPts val="100"/>
              </a:spcBef>
            </a:pPr>
            <a:r>
              <a:rPr sz="1100" spc="-60" dirty="0">
                <a:latin typeface="Arial MT"/>
                <a:cs typeface="Arial MT"/>
              </a:rPr>
              <a:t>QCNNs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are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parameter-</a:t>
            </a:r>
            <a:r>
              <a:rPr sz="1100" spc="-30" dirty="0">
                <a:latin typeface="Arial MT"/>
                <a:cs typeface="Arial MT"/>
              </a:rPr>
              <a:t>efficient </a:t>
            </a:r>
            <a:r>
              <a:rPr sz="1100" spc="-35" dirty="0">
                <a:latin typeface="Arial MT"/>
                <a:cs typeface="Arial MT"/>
              </a:rPr>
              <a:t>Suitable</a:t>
            </a:r>
            <a:r>
              <a:rPr sz="1100" dirty="0">
                <a:latin typeface="Arial MT"/>
                <a:cs typeface="Arial MT"/>
              </a:rPr>
              <a:t> for </a:t>
            </a:r>
            <a:r>
              <a:rPr sz="1100" spc="-75" dirty="0">
                <a:latin typeface="Arial MT"/>
                <a:cs typeface="Arial MT"/>
              </a:rPr>
              <a:t>near-</a:t>
            </a:r>
            <a:r>
              <a:rPr sz="1100" dirty="0">
                <a:latin typeface="Arial MT"/>
                <a:cs typeface="Arial MT"/>
              </a:rPr>
              <a:t>term </a:t>
            </a:r>
            <a:r>
              <a:rPr sz="1100" spc="-10" dirty="0">
                <a:latin typeface="Arial MT"/>
                <a:cs typeface="Arial MT"/>
              </a:rPr>
              <a:t>devices </a:t>
            </a:r>
            <a:r>
              <a:rPr sz="1100" spc="-60" dirty="0">
                <a:latin typeface="Arial MT"/>
                <a:cs typeface="Arial MT"/>
              </a:rPr>
              <a:t>CNNs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remain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more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accurate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60" dirty="0">
                <a:latin typeface="Arial MT"/>
                <a:cs typeface="Arial MT"/>
              </a:rPr>
              <a:t>QCNNs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are</a:t>
            </a:r>
            <a:r>
              <a:rPr sz="1100" dirty="0">
                <a:latin typeface="Arial MT"/>
                <a:cs typeface="Arial MT"/>
              </a:rPr>
              <a:t> a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strong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research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direction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53940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4943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59470"/>
            <a:ext cx="65265" cy="6526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529910" y="3364484"/>
            <a:ext cx="63563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latin typeface="Arial MT"/>
                <a:cs typeface="Arial MT"/>
              </a:rPr>
              <a:t>CML</a:t>
            </a:r>
            <a:r>
              <a:rPr sz="600" spc="7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  <a:hlinkClick r:id="rId5" action="ppaction://hlinksldjump"/>
              </a:rPr>
              <a:t>Certification)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-12700" y="3351784"/>
            <a:ext cx="300736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</a:rPr>
              <a:t>Sri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Krishna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Chaitanya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Ogirala</a:t>
            </a:r>
            <a:r>
              <a:rPr sz="600" spc="10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(IIT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Delhi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–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Q</a:t>
            </a:r>
            <a:r>
              <a:rPr sz="600" spc="204" dirty="0">
                <a:latin typeface="Arial MT"/>
                <a:cs typeface="Arial MT"/>
              </a:rPr>
              <a:t>  </a:t>
            </a:r>
            <a:r>
              <a:rPr sz="600" dirty="0">
                <a:latin typeface="Arial MT"/>
                <a:cs typeface="Arial MT"/>
                <a:hlinkClick r:id="rId5" action="ppaction://hlinksldjump"/>
              </a:rPr>
              <a:t>Quantum</a:t>
            </a:r>
            <a:r>
              <a:rPr sz="600" spc="40" dirty="0"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5" action="ppaction://hlinksldjump"/>
              </a:rPr>
              <a:t>Convolutional</a:t>
            </a:r>
            <a:r>
              <a:rPr sz="600" spc="45" dirty="0"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5" action="ppaction://hlinksldjump"/>
              </a:rPr>
              <a:t>Neural</a:t>
            </a:r>
            <a:r>
              <a:rPr sz="600" spc="45" dirty="0"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5" action="ppaction://hlinksldjump"/>
              </a:rPr>
              <a:t>Network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Reference</a:t>
            </a:r>
            <a:endParaRPr spc="-65" dirty="0"/>
          </a:p>
        </p:txBody>
      </p:sp>
      <p:sp>
        <p:nvSpPr>
          <p:cNvPr id="3" name="object 3"/>
          <p:cNvSpPr txBox="1"/>
          <p:nvPr/>
        </p:nvSpPr>
        <p:spPr>
          <a:xfrm>
            <a:off x="125844" y="1352713"/>
            <a:ext cx="4221480" cy="535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 MT"/>
                <a:cs typeface="Arial MT"/>
              </a:rPr>
              <a:t>T.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Hur,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L.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Kim,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D.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K.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Park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spc="-30" dirty="0">
                <a:latin typeface="Arial" panose="020B0604020202020204"/>
                <a:cs typeface="Arial" panose="020B0604020202020204"/>
              </a:rPr>
              <a:t>Quantum</a:t>
            </a:r>
            <a:r>
              <a:rPr sz="1100" i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35" dirty="0">
                <a:latin typeface="Arial" panose="020B0604020202020204"/>
                <a:cs typeface="Arial" panose="020B0604020202020204"/>
              </a:rPr>
              <a:t>Convolutional</a:t>
            </a:r>
            <a:r>
              <a:rPr sz="1100" i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40" dirty="0">
                <a:latin typeface="Arial" panose="020B0604020202020204"/>
                <a:cs typeface="Arial" panose="020B0604020202020204"/>
              </a:rPr>
              <a:t>Neural</a:t>
            </a:r>
            <a:r>
              <a:rPr sz="1100" i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35" dirty="0">
                <a:latin typeface="Arial" panose="020B0604020202020204"/>
                <a:cs typeface="Arial" panose="020B0604020202020204"/>
              </a:rPr>
              <a:t>Network</a:t>
            </a:r>
            <a:r>
              <a:rPr sz="1100" i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for</a:t>
            </a:r>
            <a:r>
              <a:rPr sz="1100" i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65" dirty="0">
                <a:latin typeface="Arial" panose="020B0604020202020204"/>
                <a:cs typeface="Arial" panose="020B0604020202020204"/>
              </a:rPr>
              <a:t>Classical</a:t>
            </a:r>
            <a:r>
              <a:rPr sz="1100" i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Data </a:t>
            </a:r>
            <a:r>
              <a:rPr sz="1100" i="1" spc="-25" dirty="0">
                <a:latin typeface="Arial" panose="020B0604020202020204"/>
                <a:cs typeface="Arial" panose="020B0604020202020204"/>
              </a:rPr>
              <a:t>Classification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30" dirty="0">
                <a:latin typeface="Arial MT"/>
                <a:cs typeface="Arial MT"/>
              </a:rPr>
              <a:t>Quantum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Machine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Intelligence,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2022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529910" y="3364484"/>
            <a:ext cx="63563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latin typeface="Arial MT"/>
                <a:cs typeface="Arial MT"/>
              </a:rPr>
              <a:t>CML</a:t>
            </a:r>
            <a:r>
              <a:rPr sz="600" spc="7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  <a:hlinkClick r:id="rId1" action="ppaction://hlinksldjump"/>
              </a:rPr>
              <a:t>Certification)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-12700" y="3351784"/>
            <a:ext cx="300736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</a:rPr>
              <a:t>Sri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Krishna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Chaitanya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Ogirala</a:t>
            </a:r>
            <a:r>
              <a:rPr sz="600" spc="10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(IIT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Delhi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–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Q</a:t>
            </a:r>
            <a:r>
              <a:rPr sz="600" spc="204" dirty="0">
                <a:latin typeface="Arial MT"/>
                <a:cs typeface="Arial MT"/>
              </a:rPr>
              <a:t>  </a:t>
            </a:r>
            <a:r>
              <a:rPr sz="600" dirty="0">
                <a:latin typeface="Arial MT"/>
                <a:cs typeface="Arial MT"/>
                <a:hlinkClick r:id="rId1" action="ppaction://hlinksldjump"/>
              </a:rPr>
              <a:t>Quantum</a:t>
            </a:r>
            <a:r>
              <a:rPr sz="600" spc="40" dirty="0"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1" action="ppaction://hlinksldjump"/>
              </a:rPr>
              <a:t>Convolutional</a:t>
            </a:r>
            <a:r>
              <a:rPr sz="600" spc="45" dirty="0"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1" action="ppaction://hlinksldjump"/>
              </a:rPr>
              <a:t>Neural</a:t>
            </a:r>
            <a:r>
              <a:rPr sz="600" spc="45" dirty="0">
                <a:latin typeface="Arial MT"/>
                <a:cs typeface="Arial MT"/>
                <a:hlinkClick r:id="rId1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1" action="ppaction://hlinksldjump"/>
              </a:rPr>
              <a:t>Network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  <a:endParaRPr spc="-35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2863</Words>
  <Application>WPS Presentation</Application>
  <PresentationFormat>On-screen Show (4:3)</PresentationFormat>
  <Paragraphs>207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SimSun</vt:lpstr>
      <vt:lpstr>Wingdings</vt:lpstr>
      <vt:lpstr>Tahoma</vt:lpstr>
      <vt:lpstr>Arial MT</vt:lpstr>
      <vt:lpstr>Times New Roman</vt:lpstr>
      <vt:lpstr>Verdana</vt:lpstr>
      <vt:lpstr>Arial</vt:lpstr>
      <vt:lpstr>Microsoft YaHei</vt:lpstr>
      <vt:lpstr>Arial Unicode MS</vt:lpstr>
      <vt:lpstr>Calibri</vt:lpstr>
      <vt:lpstr>Wingdings</vt:lpstr>
      <vt:lpstr>Times New Roman</vt:lpstr>
      <vt:lpstr>Arial Black</vt:lpstr>
      <vt:lpstr>Algerian</vt:lpstr>
      <vt:lpstr>Office Theme</vt:lpstr>
      <vt:lpstr>PowerPoint 演示文稿</vt:lpstr>
      <vt:lpstr>Motivation</vt:lpstr>
      <vt:lpstr>What is a QCNN?</vt:lpstr>
      <vt:lpstr>PowerPoint 演示文稿</vt:lpstr>
      <vt:lpstr>Datasets</vt:lpstr>
      <vt:lpstr>Models Compared</vt:lpstr>
      <vt:lpstr>PowerPoint 演示文稿</vt:lpstr>
      <vt:lpstr>PowerPoint 演示文稿</vt:lpstr>
      <vt:lpstr>Key Observations</vt:lpstr>
      <vt:lpstr>Limitations</vt:lpstr>
      <vt:lpstr>Conclusion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Convolutional Neural Network - Classical Data Classification</dc:title>
  <dc:creator>Sri Krishna Chaitanya Ogirala</dc:creator>
  <cp:lastModifiedBy>Krishna Ogirala</cp:lastModifiedBy>
  <cp:revision>6</cp:revision>
  <dcterms:created xsi:type="dcterms:W3CDTF">2025-12-15T20:39:00Z</dcterms:created>
  <dcterms:modified xsi:type="dcterms:W3CDTF">2026-01-29T15:42:14Z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2025-12-15T11:00:00Z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2025-12-15T11:00:00Z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  <property fmtid="{D5CDD505-2E9C-101B-9397-08002B2CF9AE}" pid="7" name="ICV">
    <vt:lpwstr>E3998394AE124FF19D39E09C0D46ABC3_12</vt:lpwstr>
  </property>
  <property fmtid="{D5CDD505-2E9C-101B-9397-08002B2CF9AE}" pid="8" name="KSOProductBuildVer">
    <vt:lpwstr>2057-12.2.0.23196</vt:lpwstr>
  </property>
</Properties>
</file>